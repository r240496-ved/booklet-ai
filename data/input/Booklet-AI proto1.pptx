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7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8288000" cy="10287000"/>
  <p:notesSz cx="6858000" cy="9144000"/>
  <p:embeddedFontLst>
    <p:embeddedFont>
      <p:font typeface="Times New Roman Bold" panose="02020803070505020304"/>
      <p:bold r:id="rId20"/>
    </p:embeddedFont>
    <p:embeddedFont>
      <p:font typeface="Calibri (MS)" panose="020F0502020204030204"/>
      <p:regular r:id="rId21"/>
    </p:embeddedFont>
    <p:embeddedFont>
      <p:font typeface="Calibri (MS) Bold" panose="020F0702030404030204"/>
      <p:bold r:id="rId22"/>
    </p:embeddedFont>
    <p:embeddedFont>
      <p:font typeface="Calibri (MS) Bold Italics" panose="020F07020304040A0204"/>
      <p:boldItalic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7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microsoft.com/office/2007/relationships/media" Target="../media/media1.mp4"/><Relationship Id="rId4" Type="http://schemas.openxmlformats.org/officeDocument/2006/relationships/video" Target="../media/media1.mp4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hyperlink" Target="https://gamma.app/?utm_source=made-with-gamma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9.jpeg"/><Relationship Id="rId15" Type="http://schemas.openxmlformats.org/officeDocument/2006/relationships/image" Target="../media/image18.png"/><Relationship Id="rId14" Type="http://schemas.openxmlformats.org/officeDocument/2006/relationships/tags" Target="../tags/tag11.xml"/><Relationship Id="rId13" Type="http://schemas.openxmlformats.org/officeDocument/2006/relationships/image" Target="../media/image17.svg"/><Relationship Id="rId12" Type="http://schemas.openxmlformats.org/officeDocument/2006/relationships/image" Target="../media/image16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5553" y="5553"/>
            <a:ext cx="18275303" cy="2649541"/>
            <a:chOff x="0" y="0"/>
            <a:chExt cx="24367071" cy="3532721"/>
          </a:xfrm>
        </p:grpSpPr>
        <p:sp>
          <p:nvSpPr>
            <p:cNvPr id="7" name="Freeform 7"/>
            <p:cNvSpPr/>
            <p:nvPr/>
          </p:nvSpPr>
          <p:spPr>
            <a:xfrm>
              <a:off x="10541" y="10541"/>
              <a:ext cx="24345899" cy="3511550"/>
            </a:xfrm>
            <a:custGeom>
              <a:avLst/>
              <a:gdLst/>
              <a:ahLst/>
              <a:cxnLst/>
              <a:rect l="l" t="t" r="r" b="b"/>
              <a:pathLst>
                <a:path w="24345899" h="3511550">
                  <a:moveTo>
                    <a:pt x="0" y="0"/>
                  </a:moveTo>
                  <a:lnTo>
                    <a:pt x="24345899" y="0"/>
                  </a:lnTo>
                  <a:lnTo>
                    <a:pt x="24345899" y="3511550"/>
                  </a:lnTo>
                  <a:lnTo>
                    <a:pt x="0" y="3511550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24366982" cy="3532632"/>
            </a:xfrm>
            <a:custGeom>
              <a:avLst/>
              <a:gdLst/>
              <a:ahLst/>
              <a:cxnLst/>
              <a:rect l="l" t="t" r="r" b="b"/>
              <a:pathLst>
                <a:path w="24366982" h="3532632">
                  <a:moveTo>
                    <a:pt x="10541" y="0"/>
                  </a:moveTo>
                  <a:lnTo>
                    <a:pt x="24356440" y="0"/>
                  </a:lnTo>
                  <a:cubicBezTo>
                    <a:pt x="24362283" y="0"/>
                    <a:pt x="24366982" y="4699"/>
                    <a:pt x="24366982" y="10541"/>
                  </a:cubicBezTo>
                  <a:lnTo>
                    <a:pt x="24366982" y="3522091"/>
                  </a:lnTo>
                  <a:cubicBezTo>
                    <a:pt x="24366982" y="3527933"/>
                    <a:pt x="24362283" y="3532632"/>
                    <a:pt x="24356440" y="3532632"/>
                  </a:cubicBezTo>
                  <a:lnTo>
                    <a:pt x="10541" y="3532632"/>
                  </a:lnTo>
                  <a:cubicBezTo>
                    <a:pt x="4699" y="3532632"/>
                    <a:pt x="0" y="3527933"/>
                    <a:pt x="0" y="3522091"/>
                  </a:cubicBezTo>
                  <a:lnTo>
                    <a:pt x="0" y="10541"/>
                  </a:lnTo>
                  <a:cubicBezTo>
                    <a:pt x="0" y="4699"/>
                    <a:pt x="4699" y="0"/>
                    <a:pt x="10541" y="0"/>
                  </a:cubicBezTo>
                  <a:moveTo>
                    <a:pt x="10541" y="21209"/>
                  </a:moveTo>
                  <a:lnTo>
                    <a:pt x="10541" y="10541"/>
                  </a:lnTo>
                  <a:lnTo>
                    <a:pt x="21082" y="10541"/>
                  </a:lnTo>
                  <a:lnTo>
                    <a:pt x="21082" y="3522091"/>
                  </a:lnTo>
                  <a:lnTo>
                    <a:pt x="10541" y="3522091"/>
                  </a:lnTo>
                  <a:lnTo>
                    <a:pt x="10541" y="3511550"/>
                  </a:lnTo>
                  <a:lnTo>
                    <a:pt x="24356440" y="3511550"/>
                  </a:lnTo>
                  <a:lnTo>
                    <a:pt x="24356440" y="3522091"/>
                  </a:lnTo>
                  <a:lnTo>
                    <a:pt x="24345900" y="3522091"/>
                  </a:lnTo>
                  <a:lnTo>
                    <a:pt x="24345900" y="10541"/>
                  </a:lnTo>
                  <a:lnTo>
                    <a:pt x="24356440" y="10541"/>
                  </a:lnTo>
                  <a:lnTo>
                    <a:pt x="24356440" y="21082"/>
                  </a:lnTo>
                  <a:lnTo>
                    <a:pt x="10541" y="21082"/>
                  </a:lnTo>
                  <a:close/>
                </a:path>
              </a:pathLst>
            </a:custGeom>
            <a:solidFill>
              <a:srgbClr val="2F5597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9525" y="9525"/>
            <a:ext cx="3074984" cy="2641597"/>
          </a:xfrm>
          <a:custGeom>
            <a:avLst/>
            <a:gdLst/>
            <a:ahLst/>
            <a:cxnLst/>
            <a:rect l="l" t="t" r="r" b="b"/>
            <a:pathLst>
              <a:path w="3074984" h="2641597">
                <a:moveTo>
                  <a:pt x="0" y="0"/>
                </a:moveTo>
                <a:lnTo>
                  <a:pt x="3074984" y="0"/>
                </a:lnTo>
                <a:lnTo>
                  <a:pt x="3074984" y="2641597"/>
                </a:lnTo>
                <a:lnTo>
                  <a:pt x="0" y="264159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659711" y="298218"/>
            <a:ext cx="1774031" cy="1762125"/>
            <a:chOff x="0" y="0"/>
            <a:chExt cx="2365375" cy="2349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65375" cy="2349500"/>
            </a:xfrm>
            <a:custGeom>
              <a:avLst/>
              <a:gdLst/>
              <a:ahLst/>
              <a:cxnLst/>
              <a:rect l="l" t="t" r="r" b="b"/>
              <a:pathLst>
                <a:path w="2365375" h="2349500">
                  <a:moveTo>
                    <a:pt x="0" y="0"/>
                  </a:moveTo>
                  <a:lnTo>
                    <a:pt x="2365375" y="0"/>
                  </a:lnTo>
                  <a:lnTo>
                    <a:pt x="2365375" y="2349500"/>
                  </a:lnTo>
                  <a:lnTo>
                    <a:pt x="0" y="234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255331" y="160811"/>
            <a:ext cx="14926151" cy="1035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HOPE Foundation’s</a:t>
            </a:r>
            <a:endParaRPr lang="en-US" sz="3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Finolex Academy Of Management And Technology, Ratnagiri</a:t>
            </a:r>
            <a:endParaRPr lang="en-US" sz="3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3" name="AutoShape 13"/>
          <p:cNvSpPr/>
          <p:nvPr/>
        </p:nvSpPr>
        <p:spPr>
          <a:xfrm rot="8940">
            <a:off x="3060678" y="1316041"/>
            <a:ext cx="15303551" cy="0"/>
          </a:xfrm>
          <a:prstGeom prst="line">
            <a:avLst/>
          </a:prstGeom>
          <a:ln w="28575" cap="rnd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5348640">
            <a:off x="1750866" y="1294609"/>
            <a:ext cx="2657770" cy="0"/>
          </a:xfrm>
          <a:prstGeom prst="line">
            <a:avLst/>
          </a:prstGeom>
          <a:ln w="28575" cap="rnd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3301365" y="1506217"/>
            <a:ext cx="14880117" cy="512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Department of Computer Science and Engineering (AI &amp; ML)</a:t>
            </a:r>
            <a:endParaRPr lang="en-US" sz="30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6" name="AutoShape 16"/>
          <p:cNvSpPr/>
          <p:nvPr/>
        </p:nvSpPr>
        <p:spPr>
          <a:xfrm rot="7440">
            <a:off x="-50025" y="2647159"/>
            <a:ext cx="18355513" cy="0"/>
          </a:xfrm>
          <a:prstGeom prst="line">
            <a:avLst/>
          </a:prstGeom>
          <a:ln w="28575" cap="rnd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0" y="3200422"/>
            <a:ext cx="17929698" cy="288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5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BOOKLET AI</a:t>
            </a:r>
            <a:endParaRPr lang="en-US" sz="50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l">
              <a:lnSpc>
                <a:spcPts val="5400"/>
              </a:lnSpc>
            </a:pPr>
          </a:p>
          <a:p>
            <a:pPr algn="l">
              <a:lnSpc>
                <a:spcPts val="5400"/>
              </a:lnSpc>
            </a:pPr>
          </a:p>
          <a:p>
            <a:pPr algn="ctr">
              <a:lnSpc>
                <a:spcPts val="5400"/>
              </a:lnSpc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500224" y="4815364"/>
            <a:ext cx="17681258" cy="376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 u="sng">
                <a:solidFill>
                  <a:srgbClr val="FFC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Under the guidance of </a:t>
            </a:r>
            <a:r>
              <a:rPr lang="en-US" sz="3500" b="1">
                <a:solidFill>
                  <a:srgbClr val="C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	</a:t>
            </a:r>
            <a:r>
              <a:rPr lang="en-US" sz="3500" b="1">
                <a:solidFill>
                  <a:srgbClr val="181717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	     </a:t>
            </a:r>
            <a:r>
              <a:rPr lang="en-US" sz="3500" b="1">
                <a:solidFill>
                  <a:srgbClr val="FFC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               </a:t>
            </a:r>
            <a:r>
              <a:rPr lang="en-US" sz="3500" b="1" i="1" u="sng">
                <a:solidFill>
                  <a:srgbClr val="FFC000"/>
                </a:solidFill>
                <a:latin typeface="Calibri (MS) Bold Italics" panose="020F07020304040A0204"/>
                <a:ea typeface="Calibri (MS) Bold Italics" panose="020F07020304040A0204"/>
                <a:cs typeface="Calibri (MS) Bold Italics" panose="020F07020304040A0204"/>
                <a:sym typeface="Calibri (MS) Bold Italics" panose="020F07020304040A0204"/>
              </a:rPr>
              <a:t>Presented by </a:t>
            </a:r>
            <a:endParaRPr lang="en-US" sz="3500" b="1" i="1" u="sng">
              <a:solidFill>
                <a:srgbClr val="FFC000"/>
              </a:solidFill>
              <a:latin typeface="Calibri (MS) Bold Italics" panose="020F07020304040A0204"/>
              <a:ea typeface="Calibri (MS) Bold Italics" panose="020F07020304040A0204"/>
              <a:cs typeface="Calibri (MS) Bold Italics" panose="020F07020304040A0204"/>
              <a:sym typeface="Calibri (MS) Bold Italics" panose="020F07020304040A0204"/>
            </a:endParaRPr>
          </a:p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Prof. Name Mrs. Sprooha Athalye		 Ved Khanvilkar             (R-24-0496)</a:t>
            </a:r>
            <a:endParaRPr lang="en-US" sz="35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				                                      Shwet Kadam       	     (RD-25-0001)</a:t>
            </a:r>
            <a:endParaRPr lang="en-US" sz="35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			                                               Arya Karambelkar       (R-24-0176)</a:t>
            </a:r>
            <a:endParaRPr lang="en-US" sz="35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						                    Sahil Kazi                      (RD-25-0006)</a:t>
            </a:r>
            <a:endParaRPr lang="en-US" sz="35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35106" y="185423"/>
            <a:ext cx="17873348" cy="714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CONTENTS:</a:t>
            </a:r>
            <a:endParaRPr lang="en-US" sz="4000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0971" y="1499073"/>
            <a:ext cx="17957482" cy="574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090" lvl="1" indent="-169545" algn="l">
              <a:lnSpc>
                <a:spcPts val="405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INTRODUCTION</a:t>
            </a:r>
            <a:endParaRPr lang="en-US" sz="225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339090" lvl="1" indent="-169545" algn="l">
              <a:lnSpc>
                <a:spcPts val="405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PROBLEM STATEMENT</a:t>
            </a:r>
            <a:endParaRPr lang="en-US" sz="225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339090" lvl="1" indent="-169545" algn="l">
              <a:lnSpc>
                <a:spcPts val="405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SYSTEM ARCHITECTURE/OVERVIEW</a:t>
            </a:r>
            <a:endParaRPr lang="en-US" sz="225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339090" lvl="1" indent="-169545" algn="l">
              <a:lnSpc>
                <a:spcPts val="405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EXISTING SYSTEMS &amp; LIMITATIONS</a:t>
            </a:r>
            <a:endParaRPr lang="en-US" sz="225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339090" lvl="1" indent="-169545" algn="l">
              <a:lnSpc>
                <a:spcPts val="405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EXISTING SYSTEM &amp; THEIR LIMITATIONS</a:t>
            </a:r>
            <a:endParaRPr lang="en-US" sz="225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339090" lvl="1" indent="-169545" algn="l">
              <a:lnSpc>
                <a:spcPts val="405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HOW ? BOOKLET AI OVERCOME THIS LIMITATIONS</a:t>
            </a:r>
            <a:endParaRPr lang="en-US" sz="225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339090" lvl="1" indent="-169545" algn="l">
              <a:lnSpc>
                <a:spcPts val="405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DEMONSTRATION</a:t>
            </a:r>
            <a:endParaRPr lang="en-US" sz="225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339090" lvl="1" indent="-169545" algn="l">
              <a:lnSpc>
                <a:spcPts val="405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SCOPE OF THE PROJECT</a:t>
            </a:r>
            <a:endParaRPr lang="en-US" sz="225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339090" lvl="1" indent="-169545" algn="l">
              <a:lnSpc>
                <a:spcPts val="4050"/>
              </a:lnSpc>
              <a:buFont typeface="Arial" panose="020B0604020202020204"/>
              <a:buChar char="•"/>
            </a:pPr>
            <a:r>
              <a:rPr lang="en-US" sz="225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FUTURE SCOPE</a:t>
            </a:r>
            <a:endParaRPr lang="en-US" sz="225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339090" lvl="1" indent="-169545" algn="l">
              <a:lnSpc>
                <a:spcPts val="4050"/>
              </a:lnSpc>
            </a:pPr>
          </a:p>
          <a:p>
            <a:pPr marL="339090" lvl="1" indent="-169545" algn="l">
              <a:lnSpc>
                <a:spcPts val="27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028707" y="895007"/>
            <a:ext cx="7088238" cy="1086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000">
                <a:solidFill>
                  <a:srgbClr val="F3F3F2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Booklet AI</a:t>
            </a:r>
            <a:endParaRPr lang="en-US" sz="5000">
              <a:solidFill>
                <a:srgbClr val="F3F3F2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028707" y="2114893"/>
            <a:ext cx="9445523" cy="104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Transform raw study materials into structured booklets using AI-powered automation</a:t>
            </a:r>
            <a:endParaRPr lang="en-US" sz="218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0" y="0"/>
            <a:ext cx="6843712" cy="10287000"/>
            <a:chOff x="0" y="0"/>
            <a:chExt cx="9124950" cy="13716000"/>
          </a:xfrm>
        </p:grpSpPr>
        <p:sp>
          <p:nvSpPr>
            <p:cNvPr id="9" name="Freeform 9" descr="firstimg"/>
            <p:cNvSpPr/>
            <p:nvPr/>
          </p:nvSpPr>
          <p:spPr>
            <a:xfrm>
              <a:off x="0" y="0"/>
              <a:ext cx="9124950" cy="13716000"/>
            </a:xfrm>
            <a:custGeom>
              <a:avLst/>
              <a:gdLst/>
              <a:ahLst/>
              <a:cxnLst/>
              <a:rect l="l" t="t" r="r" b="b"/>
              <a:pathLst>
                <a:path w="9124950" h="13716000">
                  <a:moveTo>
                    <a:pt x="0" y="0"/>
                  </a:moveTo>
                  <a:lnTo>
                    <a:pt x="9124950" y="0"/>
                  </a:lnTo>
                  <a:lnTo>
                    <a:pt x="912495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5" r="-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6958965" y="117158"/>
            <a:ext cx="11210611" cy="80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INTODUCTION</a:t>
            </a:r>
            <a:endParaRPr lang="en-US" sz="4500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935153" y="3274695"/>
            <a:ext cx="11046304" cy="443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Background of the Project</a:t>
            </a:r>
            <a:endParaRPr lang="en-US" sz="50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With the rapid growth of digital systems, managing tasks and information efficiently has become important. AI-based solutions help automate processes, improve accuracy, and save time in many applications.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Why the Project is Important</a:t>
            </a:r>
            <a:endParaRPr lang="en-US" sz="50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This project demonstrates how AI can be used to simplify real-world problems and improve efficiency. It helps users complete tasks faster while reducing manual effort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867795" y="555422"/>
            <a:ext cx="5272535" cy="72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5"/>
              </a:lnSpc>
            </a:pPr>
            <a:r>
              <a:rPr lang="en-US" sz="4500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Problem Statement</a:t>
            </a:r>
            <a:endParaRPr lang="en-US" sz="4500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098631" y="1868491"/>
            <a:ext cx="7064378" cy="31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40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What Problem Are You Solving?</a:t>
            </a:r>
            <a:endParaRPr lang="en-US" sz="40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224838" y="2305050"/>
            <a:ext cx="7080247" cy="565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8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Booklet AI automatically converts raw educational content into clean, structured study booklets and provides AI-generated notes through a chatbot</a:t>
            </a:r>
            <a:endParaRPr lang="en-US" sz="218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310"/>
              </a:lnSpc>
            </a:pPr>
          </a:p>
          <a:p>
            <a:pPr algn="l">
              <a:lnSpc>
                <a:spcPts val="2310"/>
              </a:lnSpc>
            </a:pPr>
          </a:p>
          <a:p>
            <a:pPr algn="l">
              <a:lnSpc>
                <a:spcPts val="2310"/>
              </a:lnSpc>
            </a:pPr>
            <a:r>
              <a:rPr lang="en-US" sz="400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Why This Problem Matters</a:t>
            </a:r>
            <a:endParaRPr lang="en-US" sz="400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310"/>
              </a:lnSpc>
            </a:pPr>
          </a:p>
          <a:p>
            <a:pPr algn="l">
              <a:lnSpc>
                <a:spcPts val="2310"/>
              </a:lnSpc>
            </a:pPr>
            <a:r>
              <a:rPr lang="en-US" sz="218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Organized study material improves understanding, saves time, and helps students prepare more effectively for exams.</a:t>
            </a:r>
            <a:endParaRPr lang="en-US" sz="218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310"/>
              </a:lnSpc>
            </a:pPr>
          </a:p>
          <a:p>
            <a:pPr algn="l">
              <a:lnSpc>
                <a:spcPts val="2310"/>
              </a:lnSpc>
            </a:pPr>
            <a:r>
              <a:rPr lang="en-US" sz="400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Current Issues or Limitations</a:t>
            </a:r>
            <a:endParaRPr lang="en-US" sz="400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310"/>
              </a:lnSpc>
            </a:pPr>
          </a:p>
          <a:p>
            <a:pPr marL="330200" lvl="1" indent="-165100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Study materials are often messy and poorly structured.</a:t>
            </a:r>
            <a:endParaRPr lang="en-US" sz="218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0200" lvl="1" indent="-165100" algn="l">
              <a:lnSpc>
                <a:spcPts val="2310"/>
              </a:lnSpc>
            </a:pPr>
          </a:p>
          <a:p>
            <a:pPr marL="330200" lvl="1" indent="-165100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Manual organization of notes is time-consuming.</a:t>
            </a:r>
            <a:endParaRPr lang="en-US" sz="218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0200" lvl="1" indent="-165100" algn="l">
              <a:lnSpc>
                <a:spcPts val="2310"/>
              </a:lnSpc>
            </a:pPr>
          </a:p>
          <a:p>
            <a:pPr marL="330200" lvl="1" indent="-165100" algn="l">
              <a:lnSpc>
                <a:spcPts val="231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Existing tools do not automatically convert files into structured study booklets.</a:t>
            </a:r>
            <a:endParaRPr lang="en-US" sz="218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1867795" y="8231391"/>
            <a:ext cx="4746127" cy="1433360"/>
            <a:chOff x="0" y="0"/>
            <a:chExt cx="6328169" cy="19111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28156" cy="1911096"/>
            </a:xfrm>
            <a:custGeom>
              <a:avLst/>
              <a:gdLst/>
              <a:ahLst/>
              <a:cxnLst/>
              <a:rect l="l" t="t" r="r" b="b"/>
              <a:pathLst>
                <a:path w="6328156" h="1911096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6285992" y="0"/>
                  </a:lnTo>
                  <a:cubicBezTo>
                    <a:pt x="6309233" y="0"/>
                    <a:pt x="6328156" y="18923"/>
                    <a:pt x="6328156" y="42164"/>
                  </a:cubicBezTo>
                  <a:lnTo>
                    <a:pt x="6328156" y="1868932"/>
                  </a:lnTo>
                  <a:cubicBezTo>
                    <a:pt x="6328156" y="1892173"/>
                    <a:pt x="6309233" y="1911096"/>
                    <a:pt x="6285992" y="1911096"/>
                  </a:cubicBezTo>
                  <a:lnTo>
                    <a:pt x="42164" y="1911096"/>
                  </a:lnTo>
                  <a:cubicBezTo>
                    <a:pt x="18923" y="1911096"/>
                    <a:pt x="0" y="1892300"/>
                    <a:pt x="0" y="1868932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2078679" y="8394649"/>
            <a:ext cx="2636196" cy="37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06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Students</a:t>
            </a:r>
            <a:endParaRPr lang="en-US" sz="206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78679" y="8799014"/>
            <a:ext cx="4324350" cy="65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2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Spending hours organizing lecture slides, PDFs, and notes</a:t>
            </a:r>
            <a:endParaRPr lang="en-US" sz="162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6770789" y="8231391"/>
            <a:ext cx="4746127" cy="1433360"/>
            <a:chOff x="0" y="0"/>
            <a:chExt cx="6328169" cy="191114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28156" cy="1911096"/>
            </a:xfrm>
            <a:custGeom>
              <a:avLst/>
              <a:gdLst/>
              <a:ahLst/>
              <a:cxnLst/>
              <a:rect l="l" t="t" r="r" b="b"/>
              <a:pathLst>
                <a:path w="6328156" h="1911096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6285992" y="0"/>
                  </a:lnTo>
                  <a:cubicBezTo>
                    <a:pt x="6309233" y="0"/>
                    <a:pt x="6328156" y="18923"/>
                    <a:pt x="6328156" y="42164"/>
                  </a:cubicBezTo>
                  <a:lnTo>
                    <a:pt x="6328156" y="1868932"/>
                  </a:lnTo>
                  <a:cubicBezTo>
                    <a:pt x="6328156" y="1892173"/>
                    <a:pt x="6309233" y="1911096"/>
                    <a:pt x="6285992" y="1911096"/>
                  </a:cubicBezTo>
                  <a:lnTo>
                    <a:pt x="42164" y="1911096"/>
                  </a:lnTo>
                  <a:cubicBezTo>
                    <a:pt x="18923" y="1911096"/>
                    <a:pt x="0" y="1892300"/>
                    <a:pt x="0" y="1868932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981673" y="8394649"/>
            <a:ext cx="2636196" cy="37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06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Educators</a:t>
            </a:r>
            <a:endParaRPr lang="en-US" sz="206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981673" y="8799014"/>
            <a:ext cx="4324350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2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Need efficient content repurposing tools</a:t>
            </a:r>
            <a:endParaRPr lang="en-US" sz="162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11673783" y="8231391"/>
            <a:ext cx="4746127" cy="1433360"/>
            <a:chOff x="0" y="0"/>
            <a:chExt cx="6328169" cy="19111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28156" cy="1911096"/>
            </a:xfrm>
            <a:custGeom>
              <a:avLst/>
              <a:gdLst/>
              <a:ahLst/>
              <a:cxnLst/>
              <a:rect l="l" t="t" r="r" b="b"/>
              <a:pathLst>
                <a:path w="6328156" h="1911096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6285992" y="0"/>
                  </a:lnTo>
                  <a:cubicBezTo>
                    <a:pt x="6309233" y="0"/>
                    <a:pt x="6328156" y="18923"/>
                    <a:pt x="6328156" y="42164"/>
                  </a:cubicBezTo>
                  <a:lnTo>
                    <a:pt x="6328156" y="1868932"/>
                  </a:lnTo>
                  <a:cubicBezTo>
                    <a:pt x="6328156" y="1892173"/>
                    <a:pt x="6309233" y="1911096"/>
                    <a:pt x="6285992" y="1911096"/>
                  </a:cubicBezTo>
                  <a:lnTo>
                    <a:pt x="42164" y="1911096"/>
                  </a:lnTo>
                  <a:cubicBezTo>
                    <a:pt x="18923" y="1911096"/>
                    <a:pt x="0" y="1892300"/>
                    <a:pt x="0" y="1868932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1884666" y="8394649"/>
            <a:ext cx="2636196" cy="37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06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Professionals</a:t>
            </a:r>
            <a:endParaRPr lang="en-US" sz="206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884666" y="8799014"/>
            <a:ext cx="4324350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2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Require quick study aid generation</a:t>
            </a:r>
            <a:endParaRPr lang="en-US" sz="162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0" y="1404938"/>
            <a:ext cx="7943850" cy="6232522"/>
            <a:chOff x="0" y="0"/>
            <a:chExt cx="10591800" cy="8310029"/>
          </a:xfrm>
        </p:grpSpPr>
        <p:sp>
          <p:nvSpPr>
            <p:cNvPr id="22" name="Freeform 22" descr="myimg3"/>
            <p:cNvSpPr/>
            <p:nvPr/>
          </p:nvSpPr>
          <p:spPr>
            <a:xfrm>
              <a:off x="0" y="0"/>
              <a:ext cx="10591800" cy="8309991"/>
            </a:xfrm>
            <a:custGeom>
              <a:avLst/>
              <a:gdLst/>
              <a:ahLst/>
              <a:cxnLst/>
              <a:rect l="l" t="t" r="r" b="b"/>
              <a:pathLst>
                <a:path w="10591800" h="8309991">
                  <a:moveTo>
                    <a:pt x="0" y="0"/>
                  </a:moveTo>
                  <a:lnTo>
                    <a:pt x="10591800" y="0"/>
                  </a:lnTo>
                  <a:lnTo>
                    <a:pt x="10591800" y="8309991"/>
                  </a:lnTo>
                  <a:lnTo>
                    <a:pt x="0" y="8309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8820" r="-882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370257" y="680885"/>
            <a:ext cx="6413449" cy="827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System Architecture/Overview</a:t>
            </a:r>
            <a:endParaRPr lang="en-US" sz="4375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129560" y="1866900"/>
            <a:ext cx="28575" cy="7615238"/>
            <a:chOff x="0" y="0"/>
            <a:chExt cx="38100" cy="101536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" cy="10153650"/>
            </a:xfrm>
            <a:custGeom>
              <a:avLst/>
              <a:gdLst/>
              <a:ahLst/>
              <a:cxnLst/>
              <a:rect l="l" t="t" r="r" b="b"/>
              <a:pathLst>
                <a:path w="38100" h="1015365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134600"/>
                  </a:lnTo>
                  <a:cubicBezTo>
                    <a:pt x="38100" y="10145141"/>
                    <a:pt x="29591" y="10153650"/>
                    <a:pt x="19050" y="10153650"/>
                  </a:cubicBezTo>
                  <a:cubicBezTo>
                    <a:pt x="8509" y="10153650"/>
                    <a:pt x="0" y="10145141"/>
                    <a:pt x="0" y="1013460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9" name="Group 9"/>
          <p:cNvGrpSpPr/>
          <p:nvPr/>
        </p:nvGrpSpPr>
        <p:grpSpPr>
          <a:xfrm rot="0">
            <a:off x="8243145" y="2106063"/>
            <a:ext cx="675827" cy="28575"/>
            <a:chOff x="0" y="0"/>
            <a:chExt cx="901103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1065" cy="38100"/>
            </a:xfrm>
            <a:custGeom>
              <a:avLst/>
              <a:gdLst/>
              <a:ahLst/>
              <a:cxnLst/>
              <a:rect l="l" t="t" r="r" b="b"/>
              <a:pathLst>
                <a:path w="90106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2015" y="0"/>
                  </a:lnTo>
                  <a:cubicBezTo>
                    <a:pt x="892556" y="0"/>
                    <a:pt x="901065" y="8509"/>
                    <a:pt x="901065" y="19050"/>
                  </a:cubicBezTo>
                  <a:cubicBezTo>
                    <a:pt x="901065" y="29591"/>
                    <a:pt x="892556" y="38100"/>
                    <a:pt x="88201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890397" y="1866900"/>
            <a:ext cx="506911" cy="506911"/>
            <a:chOff x="0" y="0"/>
            <a:chExt cx="675881" cy="6758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5894" cy="675894"/>
            </a:xfrm>
            <a:custGeom>
              <a:avLst/>
              <a:gdLst/>
              <a:ahLst/>
              <a:cxnLst/>
              <a:rect l="l" t="t" r="r" b="b"/>
              <a:pathLst>
                <a:path w="675894" h="675894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0809" y="0"/>
                  </a:lnTo>
                  <a:cubicBezTo>
                    <a:pt x="655701" y="0"/>
                    <a:pt x="675894" y="20193"/>
                    <a:pt x="675894" y="45085"/>
                  </a:cubicBezTo>
                  <a:lnTo>
                    <a:pt x="675894" y="630809"/>
                  </a:lnTo>
                  <a:cubicBezTo>
                    <a:pt x="675894" y="655701"/>
                    <a:pt x="655701" y="675894"/>
                    <a:pt x="630809" y="675894"/>
                  </a:cubicBezTo>
                  <a:lnTo>
                    <a:pt x="45085" y="675894"/>
                  </a:lnTo>
                  <a:cubicBezTo>
                    <a:pt x="20193" y="675894"/>
                    <a:pt x="0" y="655701"/>
                    <a:pt x="0" y="630809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8974931" y="1899647"/>
            <a:ext cx="337842" cy="43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1</a:t>
            </a:r>
            <a:endParaRPr lang="en-US" sz="262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200945" y="1887141"/>
            <a:ext cx="2816428" cy="40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Input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70257" y="2336902"/>
            <a:ext cx="6647107" cy="39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00"/>
              </a:lnSpc>
            </a:pPr>
            <a:r>
              <a:rPr lang="en-US" sz="17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File upload or text paste</a:t>
            </a:r>
            <a:endParaRPr lang="en-US" sz="17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9368733" y="3365297"/>
            <a:ext cx="675827" cy="28575"/>
            <a:chOff x="0" y="0"/>
            <a:chExt cx="901103" cy="38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1065" cy="38100"/>
            </a:xfrm>
            <a:custGeom>
              <a:avLst/>
              <a:gdLst/>
              <a:ahLst/>
              <a:cxnLst/>
              <a:rect l="l" t="t" r="r" b="b"/>
              <a:pathLst>
                <a:path w="90106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2015" y="0"/>
                  </a:lnTo>
                  <a:cubicBezTo>
                    <a:pt x="892556" y="0"/>
                    <a:pt x="901065" y="8509"/>
                    <a:pt x="901065" y="19050"/>
                  </a:cubicBezTo>
                  <a:cubicBezTo>
                    <a:pt x="901065" y="29591"/>
                    <a:pt x="892556" y="38100"/>
                    <a:pt x="88201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8890397" y="3126134"/>
            <a:ext cx="506911" cy="506911"/>
            <a:chOff x="0" y="0"/>
            <a:chExt cx="675881" cy="6758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5894" cy="675894"/>
            </a:xfrm>
            <a:custGeom>
              <a:avLst/>
              <a:gdLst/>
              <a:ahLst/>
              <a:cxnLst/>
              <a:rect l="l" t="t" r="r" b="b"/>
              <a:pathLst>
                <a:path w="675894" h="675894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0809" y="0"/>
                  </a:lnTo>
                  <a:cubicBezTo>
                    <a:pt x="655701" y="0"/>
                    <a:pt x="675894" y="20193"/>
                    <a:pt x="675894" y="45085"/>
                  </a:cubicBezTo>
                  <a:lnTo>
                    <a:pt x="675894" y="630809"/>
                  </a:lnTo>
                  <a:cubicBezTo>
                    <a:pt x="675894" y="655701"/>
                    <a:pt x="655701" y="675894"/>
                    <a:pt x="630809" y="675894"/>
                  </a:cubicBezTo>
                  <a:lnTo>
                    <a:pt x="45085" y="675894"/>
                  </a:lnTo>
                  <a:cubicBezTo>
                    <a:pt x="20193" y="675894"/>
                    <a:pt x="0" y="655701"/>
                    <a:pt x="0" y="630809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974931" y="3158881"/>
            <a:ext cx="337842" cy="43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</a:t>
            </a:r>
            <a:endParaRPr lang="en-US" sz="262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70331" y="3146374"/>
            <a:ext cx="2816428" cy="40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Extract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70331" y="3596135"/>
            <a:ext cx="6647259" cy="39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7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Raw text from PDF/PPT/TXT</a:t>
            </a:r>
            <a:endParaRPr lang="en-US" sz="17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8243145" y="4484189"/>
            <a:ext cx="675827" cy="28575"/>
            <a:chOff x="0" y="0"/>
            <a:chExt cx="901103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1065" cy="38100"/>
            </a:xfrm>
            <a:custGeom>
              <a:avLst/>
              <a:gdLst/>
              <a:ahLst/>
              <a:cxnLst/>
              <a:rect l="l" t="t" r="r" b="b"/>
              <a:pathLst>
                <a:path w="90106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2015" y="0"/>
                  </a:lnTo>
                  <a:cubicBezTo>
                    <a:pt x="892556" y="0"/>
                    <a:pt x="901065" y="8509"/>
                    <a:pt x="901065" y="19050"/>
                  </a:cubicBezTo>
                  <a:cubicBezTo>
                    <a:pt x="901065" y="29591"/>
                    <a:pt x="892556" y="38100"/>
                    <a:pt x="88201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25" name="Group 25"/>
          <p:cNvGrpSpPr/>
          <p:nvPr/>
        </p:nvGrpSpPr>
        <p:grpSpPr>
          <a:xfrm rot="0">
            <a:off x="8890397" y="4245026"/>
            <a:ext cx="506911" cy="506911"/>
            <a:chOff x="0" y="0"/>
            <a:chExt cx="675881" cy="67588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75894" cy="675894"/>
            </a:xfrm>
            <a:custGeom>
              <a:avLst/>
              <a:gdLst/>
              <a:ahLst/>
              <a:cxnLst/>
              <a:rect l="l" t="t" r="r" b="b"/>
              <a:pathLst>
                <a:path w="675894" h="675894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0809" y="0"/>
                  </a:lnTo>
                  <a:cubicBezTo>
                    <a:pt x="655701" y="0"/>
                    <a:pt x="675894" y="20193"/>
                    <a:pt x="675894" y="45085"/>
                  </a:cubicBezTo>
                  <a:lnTo>
                    <a:pt x="675894" y="630809"/>
                  </a:lnTo>
                  <a:cubicBezTo>
                    <a:pt x="675894" y="655701"/>
                    <a:pt x="655701" y="675894"/>
                    <a:pt x="630809" y="675894"/>
                  </a:cubicBezTo>
                  <a:lnTo>
                    <a:pt x="45085" y="675894"/>
                  </a:lnTo>
                  <a:cubicBezTo>
                    <a:pt x="20193" y="675894"/>
                    <a:pt x="0" y="655701"/>
                    <a:pt x="0" y="630809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974931" y="4277763"/>
            <a:ext cx="337842" cy="43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3</a:t>
            </a:r>
            <a:endParaRPr lang="en-US" sz="262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200945" y="4265266"/>
            <a:ext cx="2816428" cy="40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Clean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70257" y="4715027"/>
            <a:ext cx="6647107" cy="39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00"/>
              </a:lnSpc>
            </a:pPr>
            <a:r>
              <a:rPr lang="en-US" sz="17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Fix artifacts and normalize</a:t>
            </a:r>
            <a:endParaRPr lang="en-US" sz="17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0" name="Group 30"/>
          <p:cNvGrpSpPr/>
          <p:nvPr/>
        </p:nvGrpSpPr>
        <p:grpSpPr>
          <a:xfrm rot="0">
            <a:off x="9368733" y="5603234"/>
            <a:ext cx="675827" cy="28575"/>
            <a:chOff x="0" y="0"/>
            <a:chExt cx="901103" cy="38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01065" cy="38100"/>
            </a:xfrm>
            <a:custGeom>
              <a:avLst/>
              <a:gdLst/>
              <a:ahLst/>
              <a:cxnLst/>
              <a:rect l="l" t="t" r="r" b="b"/>
              <a:pathLst>
                <a:path w="90106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2015" y="0"/>
                  </a:lnTo>
                  <a:cubicBezTo>
                    <a:pt x="892556" y="0"/>
                    <a:pt x="901065" y="8509"/>
                    <a:pt x="901065" y="19050"/>
                  </a:cubicBezTo>
                  <a:cubicBezTo>
                    <a:pt x="901065" y="29591"/>
                    <a:pt x="892556" y="38100"/>
                    <a:pt x="88201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8890397" y="5364061"/>
            <a:ext cx="506911" cy="506911"/>
            <a:chOff x="0" y="0"/>
            <a:chExt cx="675881" cy="67588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75894" cy="675894"/>
            </a:xfrm>
            <a:custGeom>
              <a:avLst/>
              <a:gdLst/>
              <a:ahLst/>
              <a:cxnLst/>
              <a:rect l="l" t="t" r="r" b="b"/>
              <a:pathLst>
                <a:path w="675894" h="675894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0809" y="0"/>
                  </a:lnTo>
                  <a:cubicBezTo>
                    <a:pt x="655701" y="0"/>
                    <a:pt x="675894" y="20193"/>
                    <a:pt x="675894" y="45085"/>
                  </a:cubicBezTo>
                  <a:lnTo>
                    <a:pt x="675894" y="630809"/>
                  </a:lnTo>
                  <a:cubicBezTo>
                    <a:pt x="675894" y="655701"/>
                    <a:pt x="655701" y="675894"/>
                    <a:pt x="630809" y="675894"/>
                  </a:cubicBezTo>
                  <a:lnTo>
                    <a:pt x="45085" y="675894"/>
                  </a:lnTo>
                  <a:cubicBezTo>
                    <a:pt x="20193" y="675894"/>
                    <a:pt x="0" y="655701"/>
                    <a:pt x="0" y="630809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8974931" y="5396808"/>
            <a:ext cx="337842" cy="43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4</a:t>
            </a:r>
            <a:endParaRPr lang="en-US" sz="262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270331" y="5384302"/>
            <a:ext cx="2816428" cy="40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Structure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270331" y="5834063"/>
            <a:ext cx="6647259" cy="39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7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Markdown formatting</a:t>
            </a:r>
            <a:endParaRPr lang="en-US" sz="17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7" name="Group 37"/>
          <p:cNvGrpSpPr/>
          <p:nvPr/>
        </p:nvGrpSpPr>
        <p:grpSpPr>
          <a:xfrm rot="0">
            <a:off x="8243145" y="6722269"/>
            <a:ext cx="675827" cy="28575"/>
            <a:chOff x="0" y="0"/>
            <a:chExt cx="901103" cy="38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01065" cy="38100"/>
            </a:xfrm>
            <a:custGeom>
              <a:avLst/>
              <a:gdLst/>
              <a:ahLst/>
              <a:cxnLst/>
              <a:rect l="l" t="t" r="r" b="b"/>
              <a:pathLst>
                <a:path w="90106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2015" y="0"/>
                  </a:lnTo>
                  <a:cubicBezTo>
                    <a:pt x="892556" y="0"/>
                    <a:pt x="901065" y="8509"/>
                    <a:pt x="901065" y="19050"/>
                  </a:cubicBezTo>
                  <a:cubicBezTo>
                    <a:pt x="901065" y="29591"/>
                    <a:pt x="892556" y="38100"/>
                    <a:pt x="88201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39" name="Group 39"/>
          <p:cNvGrpSpPr/>
          <p:nvPr/>
        </p:nvGrpSpPr>
        <p:grpSpPr>
          <a:xfrm rot="0">
            <a:off x="8890397" y="6483106"/>
            <a:ext cx="506911" cy="506911"/>
            <a:chOff x="0" y="0"/>
            <a:chExt cx="675881" cy="67588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75894" cy="675894"/>
            </a:xfrm>
            <a:custGeom>
              <a:avLst/>
              <a:gdLst/>
              <a:ahLst/>
              <a:cxnLst/>
              <a:rect l="l" t="t" r="r" b="b"/>
              <a:pathLst>
                <a:path w="675894" h="675894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0809" y="0"/>
                  </a:lnTo>
                  <a:cubicBezTo>
                    <a:pt x="655701" y="0"/>
                    <a:pt x="675894" y="20193"/>
                    <a:pt x="675894" y="45085"/>
                  </a:cubicBezTo>
                  <a:lnTo>
                    <a:pt x="675894" y="630809"/>
                  </a:lnTo>
                  <a:cubicBezTo>
                    <a:pt x="675894" y="655701"/>
                    <a:pt x="655701" y="675894"/>
                    <a:pt x="630809" y="675894"/>
                  </a:cubicBezTo>
                  <a:lnTo>
                    <a:pt x="45085" y="675894"/>
                  </a:lnTo>
                  <a:cubicBezTo>
                    <a:pt x="20193" y="675894"/>
                    <a:pt x="0" y="655701"/>
                    <a:pt x="0" y="630809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8974931" y="6515843"/>
            <a:ext cx="337842" cy="43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5</a:t>
            </a:r>
            <a:endParaRPr lang="en-US" sz="262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200945" y="6503346"/>
            <a:ext cx="2816428" cy="40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Generate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70257" y="6953098"/>
            <a:ext cx="6647107" cy="39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00"/>
              </a:lnSpc>
            </a:pPr>
            <a:r>
              <a:rPr lang="en-US" sz="17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PDF booklet creation</a:t>
            </a:r>
            <a:endParaRPr lang="en-US" sz="17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44" name="Group 44"/>
          <p:cNvGrpSpPr/>
          <p:nvPr/>
        </p:nvGrpSpPr>
        <p:grpSpPr>
          <a:xfrm rot="0">
            <a:off x="9368733" y="7841304"/>
            <a:ext cx="675827" cy="28575"/>
            <a:chOff x="0" y="0"/>
            <a:chExt cx="901103" cy="381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01065" cy="38100"/>
            </a:xfrm>
            <a:custGeom>
              <a:avLst/>
              <a:gdLst/>
              <a:ahLst/>
              <a:cxnLst/>
              <a:rect l="l" t="t" r="r" b="b"/>
              <a:pathLst>
                <a:path w="90106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2015" y="0"/>
                  </a:lnTo>
                  <a:cubicBezTo>
                    <a:pt x="892556" y="0"/>
                    <a:pt x="901065" y="8509"/>
                    <a:pt x="901065" y="19050"/>
                  </a:cubicBezTo>
                  <a:cubicBezTo>
                    <a:pt x="901065" y="29591"/>
                    <a:pt x="892556" y="38100"/>
                    <a:pt x="88201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46" name="Group 46"/>
          <p:cNvGrpSpPr/>
          <p:nvPr/>
        </p:nvGrpSpPr>
        <p:grpSpPr>
          <a:xfrm rot="0">
            <a:off x="8890397" y="7602141"/>
            <a:ext cx="506911" cy="506911"/>
            <a:chOff x="0" y="0"/>
            <a:chExt cx="675881" cy="67588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75894" cy="675894"/>
            </a:xfrm>
            <a:custGeom>
              <a:avLst/>
              <a:gdLst/>
              <a:ahLst/>
              <a:cxnLst/>
              <a:rect l="l" t="t" r="r" b="b"/>
              <a:pathLst>
                <a:path w="675894" h="675894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0809" y="0"/>
                  </a:lnTo>
                  <a:cubicBezTo>
                    <a:pt x="655701" y="0"/>
                    <a:pt x="675894" y="20193"/>
                    <a:pt x="675894" y="45085"/>
                  </a:cubicBezTo>
                  <a:lnTo>
                    <a:pt x="675894" y="630809"/>
                  </a:lnTo>
                  <a:cubicBezTo>
                    <a:pt x="675894" y="655701"/>
                    <a:pt x="655701" y="675894"/>
                    <a:pt x="630809" y="675894"/>
                  </a:cubicBezTo>
                  <a:lnTo>
                    <a:pt x="45085" y="675894"/>
                  </a:lnTo>
                  <a:cubicBezTo>
                    <a:pt x="20193" y="675894"/>
                    <a:pt x="0" y="655701"/>
                    <a:pt x="0" y="630809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8974931" y="7634878"/>
            <a:ext cx="337842" cy="43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6</a:t>
            </a:r>
            <a:endParaRPr lang="en-US" sz="262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270331" y="7622381"/>
            <a:ext cx="2816428" cy="40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Chat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270331" y="8072142"/>
            <a:ext cx="6647259" cy="39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7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AI-powered notes</a:t>
            </a:r>
            <a:endParaRPr lang="en-US" sz="17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850238" y="1044178"/>
            <a:ext cx="9445523" cy="192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Existing Systems &amp; Limitations</a:t>
            </a:r>
            <a:endParaRPr lang="en-US" sz="5560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7831188" y="3374679"/>
            <a:ext cx="9483623" cy="1747990"/>
            <a:chOff x="0" y="0"/>
            <a:chExt cx="12644831" cy="2330653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12594082" cy="2279904"/>
            </a:xfrm>
            <a:custGeom>
              <a:avLst/>
              <a:gdLst/>
              <a:ahLst/>
              <a:cxnLst/>
              <a:rect l="l" t="t" r="r" b="b"/>
              <a:pathLst>
                <a:path w="12594082" h="2279904">
                  <a:moveTo>
                    <a:pt x="0" y="243840"/>
                  </a:moveTo>
                  <a:cubicBezTo>
                    <a:pt x="0" y="109220"/>
                    <a:pt x="111125" y="0"/>
                    <a:pt x="248285" y="0"/>
                  </a:cubicBezTo>
                  <a:lnTo>
                    <a:pt x="12345797" y="0"/>
                  </a:lnTo>
                  <a:cubicBezTo>
                    <a:pt x="12482957" y="0"/>
                    <a:pt x="12594082" y="109220"/>
                    <a:pt x="12594082" y="243840"/>
                  </a:cubicBezTo>
                  <a:lnTo>
                    <a:pt x="12594082" y="2036064"/>
                  </a:lnTo>
                  <a:cubicBezTo>
                    <a:pt x="12594082" y="2170684"/>
                    <a:pt x="12482957" y="2279904"/>
                    <a:pt x="12345797" y="2279904"/>
                  </a:cubicBezTo>
                  <a:lnTo>
                    <a:pt x="248285" y="2279904"/>
                  </a:lnTo>
                  <a:cubicBezTo>
                    <a:pt x="111125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292C32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2644882" cy="2330704"/>
            </a:xfrm>
            <a:custGeom>
              <a:avLst/>
              <a:gdLst/>
              <a:ahLst/>
              <a:cxnLst/>
              <a:rect l="l" t="t" r="r" b="b"/>
              <a:pathLst>
                <a:path w="12644882" h="2330704">
                  <a:moveTo>
                    <a:pt x="0" y="269240"/>
                  </a:moveTo>
                  <a:cubicBezTo>
                    <a:pt x="0" y="120142"/>
                    <a:pt x="122936" y="0"/>
                    <a:pt x="273685" y="0"/>
                  </a:cubicBezTo>
                  <a:lnTo>
                    <a:pt x="12371197" y="0"/>
                  </a:lnTo>
                  <a:lnTo>
                    <a:pt x="12371197" y="25400"/>
                  </a:lnTo>
                  <a:lnTo>
                    <a:pt x="12371197" y="0"/>
                  </a:lnTo>
                  <a:cubicBezTo>
                    <a:pt x="12521946" y="0"/>
                    <a:pt x="12644882" y="120142"/>
                    <a:pt x="12644882" y="269240"/>
                  </a:cubicBezTo>
                  <a:lnTo>
                    <a:pt x="12619482" y="269240"/>
                  </a:lnTo>
                  <a:lnTo>
                    <a:pt x="12644882" y="269240"/>
                  </a:lnTo>
                  <a:lnTo>
                    <a:pt x="12644882" y="2061464"/>
                  </a:lnTo>
                  <a:lnTo>
                    <a:pt x="12619482" y="2061464"/>
                  </a:lnTo>
                  <a:lnTo>
                    <a:pt x="12644882" y="2061464"/>
                  </a:lnTo>
                  <a:cubicBezTo>
                    <a:pt x="12644882" y="2210562"/>
                    <a:pt x="12521946" y="2330704"/>
                    <a:pt x="12371197" y="2330704"/>
                  </a:cubicBezTo>
                  <a:lnTo>
                    <a:pt x="12371197" y="2305304"/>
                  </a:lnTo>
                  <a:lnTo>
                    <a:pt x="12371197" y="2330704"/>
                  </a:lnTo>
                  <a:lnTo>
                    <a:pt x="273685" y="2330704"/>
                  </a:lnTo>
                  <a:lnTo>
                    <a:pt x="273685" y="2305304"/>
                  </a:lnTo>
                  <a:lnTo>
                    <a:pt x="273685" y="2330704"/>
                  </a:lnTo>
                  <a:cubicBezTo>
                    <a:pt x="122936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685" y="2279904"/>
                  </a:cubicBezTo>
                  <a:lnTo>
                    <a:pt x="12371197" y="2279904"/>
                  </a:lnTo>
                  <a:cubicBezTo>
                    <a:pt x="12494768" y="2279904"/>
                    <a:pt x="12594082" y="2181733"/>
                    <a:pt x="12594082" y="2061464"/>
                  </a:cubicBezTo>
                  <a:lnTo>
                    <a:pt x="12594082" y="269240"/>
                  </a:lnTo>
                  <a:cubicBezTo>
                    <a:pt x="12594082" y="148971"/>
                    <a:pt x="12494768" y="50800"/>
                    <a:pt x="12371197" y="50800"/>
                  </a:cubicBezTo>
                  <a:lnTo>
                    <a:pt x="273685" y="50800"/>
                  </a:lnTo>
                  <a:lnTo>
                    <a:pt x="273685" y="25400"/>
                  </a:lnTo>
                  <a:lnTo>
                    <a:pt x="273685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7812138" y="3393729"/>
            <a:ext cx="152400" cy="1709890"/>
            <a:chOff x="0" y="0"/>
            <a:chExt cx="203200" cy="22798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2279904"/>
            </a:xfrm>
            <a:custGeom>
              <a:avLst/>
              <a:gdLst/>
              <a:ahLst/>
              <a:cxnLst/>
              <a:rect l="l" t="t" r="r" b="b"/>
              <a:pathLst>
                <a:path w="203200" h="227990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223135"/>
                  </a:lnTo>
                  <a:cubicBezTo>
                    <a:pt x="203200" y="2254504"/>
                    <a:pt x="177800" y="2279904"/>
                    <a:pt x="146431" y="2279904"/>
                  </a:cubicBezTo>
                  <a:lnTo>
                    <a:pt x="56769" y="2279904"/>
                  </a:lnTo>
                  <a:cubicBezTo>
                    <a:pt x="25400" y="2279904"/>
                    <a:pt x="0" y="2254504"/>
                    <a:pt x="0" y="2223135"/>
                  </a:cubicBezTo>
                  <a:close/>
                </a:path>
              </a:pathLst>
            </a:custGeom>
            <a:solidFill>
              <a:srgbClr val="FFBC8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8286159" y="3639141"/>
            <a:ext cx="3544043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Notion / Google Docs</a:t>
            </a:r>
            <a:endParaRPr lang="en-US" sz="27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286159" y="4195020"/>
            <a:ext cx="8687991" cy="58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No automation for content structuring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7831188" y="5368080"/>
            <a:ext cx="9483623" cy="1747990"/>
            <a:chOff x="0" y="0"/>
            <a:chExt cx="12644831" cy="2330653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12594082" cy="2279904"/>
            </a:xfrm>
            <a:custGeom>
              <a:avLst/>
              <a:gdLst/>
              <a:ahLst/>
              <a:cxnLst/>
              <a:rect l="l" t="t" r="r" b="b"/>
              <a:pathLst>
                <a:path w="12594082" h="2279904">
                  <a:moveTo>
                    <a:pt x="0" y="243840"/>
                  </a:moveTo>
                  <a:cubicBezTo>
                    <a:pt x="0" y="109220"/>
                    <a:pt x="111125" y="0"/>
                    <a:pt x="248285" y="0"/>
                  </a:cubicBezTo>
                  <a:lnTo>
                    <a:pt x="12345797" y="0"/>
                  </a:lnTo>
                  <a:cubicBezTo>
                    <a:pt x="12482957" y="0"/>
                    <a:pt x="12594082" y="109220"/>
                    <a:pt x="12594082" y="243840"/>
                  </a:cubicBezTo>
                  <a:lnTo>
                    <a:pt x="12594082" y="2036064"/>
                  </a:lnTo>
                  <a:cubicBezTo>
                    <a:pt x="12594082" y="2170684"/>
                    <a:pt x="12482957" y="2279904"/>
                    <a:pt x="12345797" y="2279904"/>
                  </a:cubicBezTo>
                  <a:lnTo>
                    <a:pt x="248285" y="2279904"/>
                  </a:lnTo>
                  <a:cubicBezTo>
                    <a:pt x="111125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292C32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2644882" cy="2330704"/>
            </a:xfrm>
            <a:custGeom>
              <a:avLst/>
              <a:gdLst/>
              <a:ahLst/>
              <a:cxnLst/>
              <a:rect l="l" t="t" r="r" b="b"/>
              <a:pathLst>
                <a:path w="12644882" h="2330704">
                  <a:moveTo>
                    <a:pt x="0" y="269240"/>
                  </a:moveTo>
                  <a:cubicBezTo>
                    <a:pt x="0" y="120142"/>
                    <a:pt x="122936" y="0"/>
                    <a:pt x="273685" y="0"/>
                  </a:cubicBezTo>
                  <a:lnTo>
                    <a:pt x="12371197" y="0"/>
                  </a:lnTo>
                  <a:lnTo>
                    <a:pt x="12371197" y="25400"/>
                  </a:lnTo>
                  <a:lnTo>
                    <a:pt x="12371197" y="0"/>
                  </a:lnTo>
                  <a:cubicBezTo>
                    <a:pt x="12521946" y="0"/>
                    <a:pt x="12644882" y="120142"/>
                    <a:pt x="12644882" y="269240"/>
                  </a:cubicBezTo>
                  <a:lnTo>
                    <a:pt x="12619482" y="269240"/>
                  </a:lnTo>
                  <a:lnTo>
                    <a:pt x="12644882" y="269240"/>
                  </a:lnTo>
                  <a:lnTo>
                    <a:pt x="12644882" y="2061464"/>
                  </a:lnTo>
                  <a:lnTo>
                    <a:pt x="12619482" y="2061464"/>
                  </a:lnTo>
                  <a:lnTo>
                    <a:pt x="12644882" y="2061464"/>
                  </a:lnTo>
                  <a:cubicBezTo>
                    <a:pt x="12644882" y="2210562"/>
                    <a:pt x="12521946" y="2330704"/>
                    <a:pt x="12371197" y="2330704"/>
                  </a:cubicBezTo>
                  <a:lnTo>
                    <a:pt x="12371197" y="2305304"/>
                  </a:lnTo>
                  <a:lnTo>
                    <a:pt x="12371197" y="2330704"/>
                  </a:lnTo>
                  <a:lnTo>
                    <a:pt x="273685" y="2330704"/>
                  </a:lnTo>
                  <a:lnTo>
                    <a:pt x="273685" y="2305304"/>
                  </a:lnTo>
                  <a:lnTo>
                    <a:pt x="273685" y="2330704"/>
                  </a:lnTo>
                  <a:cubicBezTo>
                    <a:pt x="122936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685" y="2279904"/>
                  </a:cubicBezTo>
                  <a:lnTo>
                    <a:pt x="12371197" y="2279904"/>
                  </a:lnTo>
                  <a:cubicBezTo>
                    <a:pt x="12494768" y="2279904"/>
                    <a:pt x="12594082" y="2181733"/>
                    <a:pt x="12594082" y="2061464"/>
                  </a:cubicBezTo>
                  <a:lnTo>
                    <a:pt x="12594082" y="269240"/>
                  </a:lnTo>
                  <a:cubicBezTo>
                    <a:pt x="12594082" y="148971"/>
                    <a:pt x="12494768" y="50800"/>
                    <a:pt x="12371197" y="50800"/>
                  </a:cubicBezTo>
                  <a:lnTo>
                    <a:pt x="273685" y="50800"/>
                  </a:lnTo>
                  <a:lnTo>
                    <a:pt x="273685" y="25400"/>
                  </a:lnTo>
                  <a:lnTo>
                    <a:pt x="273685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7812138" y="5387130"/>
            <a:ext cx="152400" cy="1709890"/>
            <a:chOff x="0" y="0"/>
            <a:chExt cx="203200" cy="22798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" cy="2279904"/>
            </a:xfrm>
            <a:custGeom>
              <a:avLst/>
              <a:gdLst/>
              <a:ahLst/>
              <a:cxnLst/>
              <a:rect l="l" t="t" r="r" b="b"/>
              <a:pathLst>
                <a:path w="203200" h="227990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223135"/>
                  </a:lnTo>
                  <a:cubicBezTo>
                    <a:pt x="203200" y="2254504"/>
                    <a:pt x="177800" y="2279904"/>
                    <a:pt x="146431" y="2279904"/>
                  </a:cubicBezTo>
                  <a:lnTo>
                    <a:pt x="56769" y="2279904"/>
                  </a:lnTo>
                  <a:cubicBezTo>
                    <a:pt x="25400" y="2279904"/>
                    <a:pt x="0" y="2254504"/>
                    <a:pt x="0" y="2223135"/>
                  </a:cubicBezTo>
                  <a:close/>
                </a:path>
              </a:pathLst>
            </a:custGeom>
            <a:solidFill>
              <a:srgbClr val="FFBC8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8286159" y="5632552"/>
            <a:ext cx="3544043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Manual PDF Tools</a:t>
            </a:r>
            <a:endParaRPr lang="en-US" sz="27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286159" y="6188421"/>
            <a:ext cx="8687991" cy="58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Time-intensive editing required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21" name="Group 21"/>
          <p:cNvGrpSpPr/>
          <p:nvPr/>
        </p:nvGrpSpPr>
        <p:grpSpPr>
          <a:xfrm rot="0">
            <a:off x="7831188" y="7361482"/>
            <a:ext cx="9483623" cy="1747990"/>
            <a:chOff x="0" y="0"/>
            <a:chExt cx="12644831" cy="2330653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12594082" cy="2279904"/>
            </a:xfrm>
            <a:custGeom>
              <a:avLst/>
              <a:gdLst/>
              <a:ahLst/>
              <a:cxnLst/>
              <a:rect l="l" t="t" r="r" b="b"/>
              <a:pathLst>
                <a:path w="12594082" h="2279904">
                  <a:moveTo>
                    <a:pt x="0" y="243840"/>
                  </a:moveTo>
                  <a:cubicBezTo>
                    <a:pt x="0" y="109220"/>
                    <a:pt x="111125" y="0"/>
                    <a:pt x="248285" y="0"/>
                  </a:cubicBezTo>
                  <a:lnTo>
                    <a:pt x="12345797" y="0"/>
                  </a:lnTo>
                  <a:cubicBezTo>
                    <a:pt x="12482957" y="0"/>
                    <a:pt x="12594082" y="109220"/>
                    <a:pt x="12594082" y="243840"/>
                  </a:cubicBezTo>
                  <a:lnTo>
                    <a:pt x="12594082" y="2036064"/>
                  </a:lnTo>
                  <a:cubicBezTo>
                    <a:pt x="12594082" y="2170684"/>
                    <a:pt x="12482957" y="2279904"/>
                    <a:pt x="12345797" y="2279904"/>
                  </a:cubicBezTo>
                  <a:lnTo>
                    <a:pt x="248285" y="2279904"/>
                  </a:lnTo>
                  <a:cubicBezTo>
                    <a:pt x="111125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292C32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12644882" cy="2330704"/>
            </a:xfrm>
            <a:custGeom>
              <a:avLst/>
              <a:gdLst/>
              <a:ahLst/>
              <a:cxnLst/>
              <a:rect l="l" t="t" r="r" b="b"/>
              <a:pathLst>
                <a:path w="12644882" h="2330704">
                  <a:moveTo>
                    <a:pt x="0" y="269240"/>
                  </a:moveTo>
                  <a:cubicBezTo>
                    <a:pt x="0" y="120142"/>
                    <a:pt x="122936" y="0"/>
                    <a:pt x="273685" y="0"/>
                  </a:cubicBezTo>
                  <a:lnTo>
                    <a:pt x="12371197" y="0"/>
                  </a:lnTo>
                  <a:lnTo>
                    <a:pt x="12371197" y="25400"/>
                  </a:lnTo>
                  <a:lnTo>
                    <a:pt x="12371197" y="0"/>
                  </a:lnTo>
                  <a:cubicBezTo>
                    <a:pt x="12521946" y="0"/>
                    <a:pt x="12644882" y="120142"/>
                    <a:pt x="12644882" y="269240"/>
                  </a:cubicBezTo>
                  <a:lnTo>
                    <a:pt x="12619482" y="269240"/>
                  </a:lnTo>
                  <a:lnTo>
                    <a:pt x="12644882" y="269240"/>
                  </a:lnTo>
                  <a:lnTo>
                    <a:pt x="12644882" y="2061464"/>
                  </a:lnTo>
                  <a:lnTo>
                    <a:pt x="12619482" y="2061464"/>
                  </a:lnTo>
                  <a:lnTo>
                    <a:pt x="12644882" y="2061464"/>
                  </a:lnTo>
                  <a:cubicBezTo>
                    <a:pt x="12644882" y="2210562"/>
                    <a:pt x="12521946" y="2330704"/>
                    <a:pt x="12371197" y="2330704"/>
                  </a:cubicBezTo>
                  <a:lnTo>
                    <a:pt x="12371197" y="2305304"/>
                  </a:lnTo>
                  <a:lnTo>
                    <a:pt x="12371197" y="2330704"/>
                  </a:lnTo>
                  <a:lnTo>
                    <a:pt x="273685" y="2330704"/>
                  </a:lnTo>
                  <a:lnTo>
                    <a:pt x="273685" y="2305304"/>
                  </a:lnTo>
                  <a:lnTo>
                    <a:pt x="273685" y="2330704"/>
                  </a:lnTo>
                  <a:cubicBezTo>
                    <a:pt x="122936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685" y="2279904"/>
                  </a:cubicBezTo>
                  <a:lnTo>
                    <a:pt x="12371197" y="2279904"/>
                  </a:lnTo>
                  <a:cubicBezTo>
                    <a:pt x="12494768" y="2279904"/>
                    <a:pt x="12594082" y="2181733"/>
                    <a:pt x="12594082" y="2061464"/>
                  </a:cubicBezTo>
                  <a:lnTo>
                    <a:pt x="12594082" y="269240"/>
                  </a:lnTo>
                  <a:cubicBezTo>
                    <a:pt x="12594082" y="148971"/>
                    <a:pt x="12494768" y="50800"/>
                    <a:pt x="12371197" y="50800"/>
                  </a:cubicBezTo>
                  <a:lnTo>
                    <a:pt x="273685" y="50800"/>
                  </a:lnTo>
                  <a:lnTo>
                    <a:pt x="273685" y="25400"/>
                  </a:lnTo>
                  <a:lnTo>
                    <a:pt x="273685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grpSp>
        <p:nvGrpSpPr>
          <p:cNvPr id="24" name="Group 24"/>
          <p:cNvGrpSpPr/>
          <p:nvPr/>
        </p:nvGrpSpPr>
        <p:grpSpPr>
          <a:xfrm rot="0">
            <a:off x="7812138" y="7380532"/>
            <a:ext cx="152400" cy="1709890"/>
            <a:chOff x="0" y="0"/>
            <a:chExt cx="203200" cy="22798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2279904"/>
            </a:xfrm>
            <a:custGeom>
              <a:avLst/>
              <a:gdLst/>
              <a:ahLst/>
              <a:cxnLst/>
              <a:rect l="l" t="t" r="r" b="b"/>
              <a:pathLst>
                <a:path w="203200" h="227990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223135"/>
                  </a:lnTo>
                  <a:cubicBezTo>
                    <a:pt x="203200" y="2254504"/>
                    <a:pt x="177800" y="2279904"/>
                    <a:pt x="146431" y="2279904"/>
                  </a:cubicBezTo>
                  <a:lnTo>
                    <a:pt x="56769" y="2279904"/>
                  </a:lnTo>
                  <a:cubicBezTo>
                    <a:pt x="25400" y="2279904"/>
                    <a:pt x="0" y="2254504"/>
                    <a:pt x="0" y="2223135"/>
                  </a:cubicBezTo>
                  <a:close/>
                </a:path>
              </a:pathLst>
            </a:custGeom>
            <a:solidFill>
              <a:srgbClr val="FFBC8F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286159" y="7625953"/>
            <a:ext cx="3544043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Basic Converters</a:t>
            </a:r>
            <a:endParaRPr lang="en-US" sz="27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286159" y="8181823"/>
            <a:ext cx="8687991" cy="58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Cannot extract or enhance meaning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28" name="Group 28"/>
          <p:cNvGrpSpPr/>
          <p:nvPr/>
        </p:nvGrpSpPr>
        <p:grpSpPr>
          <a:xfrm rot="0">
            <a:off x="0" y="2218534"/>
            <a:ext cx="3168653" cy="3168653"/>
            <a:chOff x="0" y="0"/>
            <a:chExt cx="4224871" cy="4224871"/>
          </a:xfrm>
        </p:grpSpPr>
        <p:sp>
          <p:nvSpPr>
            <p:cNvPr id="29" name="Freeform 29" descr="myimg4"/>
            <p:cNvSpPr/>
            <p:nvPr/>
          </p:nvSpPr>
          <p:spPr>
            <a:xfrm>
              <a:off x="0" y="0"/>
              <a:ext cx="4224909" cy="4224909"/>
            </a:xfrm>
            <a:custGeom>
              <a:avLst/>
              <a:gdLst/>
              <a:ahLst/>
              <a:cxnLst/>
              <a:rect l="l" t="t" r="r" b="b"/>
              <a:pathLst>
                <a:path w="4224909" h="4224909">
                  <a:moveTo>
                    <a:pt x="0" y="0"/>
                  </a:moveTo>
                  <a:lnTo>
                    <a:pt x="4224909" y="0"/>
                  </a:lnTo>
                  <a:lnTo>
                    <a:pt x="4224909" y="4224909"/>
                  </a:lnTo>
                  <a:lnTo>
                    <a:pt x="0" y="4224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 rot="0">
            <a:off x="3328988" y="2482053"/>
            <a:ext cx="2008184" cy="2763041"/>
            <a:chOff x="0" y="0"/>
            <a:chExt cx="2677579" cy="3684054"/>
          </a:xfrm>
        </p:grpSpPr>
        <p:sp>
          <p:nvSpPr>
            <p:cNvPr id="31" name="Freeform 31" descr="myimg5"/>
            <p:cNvSpPr/>
            <p:nvPr/>
          </p:nvSpPr>
          <p:spPr>
            <a:xfrm>
              <a:off x="0" y="0"/>
              <a:ext cx="2677541" cy="3684016"/>
            </a:xfrm>
            <a:custGeom>
              <a:avLst/>
              <a:gdLst/>
              <a:ahLst/>
              <a:cxnLst/>
              <a:rect l="l" t="t" r="r" b="b"/>
              <a:pathLst>
                <a:path w="2677541" h="3684016">
                  <a:moveTo>
                    <a:pt x="0" y="0"/>
                  </a:moveTo>
                  <a:lnTo>
                    <a:pt x="2677541" y="0"/>
                  </a:lnTo>
                  <a:lnTo>
                    <a:pt x="2677541" y="3684016"/>
                  </a:lnTo>
                  <a:lnTo>
                    <a:pt x="0" y="3684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" r="-34" b="-1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 rot="0">
            <a:off x="536572" y="5664994"/>
            <a:ext cx="2480472" cy="2480472"/>
            <a:chOff x="0" y="0"/>
            <a:chExt cx="3307296" cy="3307296"/>
          </a:xfrm>
        </p:grpSpPr>
        <p:sp>
          <p:nvSpPr>
            <p:cNvPr id="33" name="Freeform 33" descr="myimg6"/>
            <p:cNvSpPr/>
            <p:nvPr/>
          </p:nvSpPr>
          <p:spPr>
            <a:xfrm>
              <a:off x="0" y="0"/>
              <a:ext cx="3307334" cy="3307334"/>
            </a:xfrm>
            <a:custGeom>
              <a:avLst/>
              <a:gdLst/>
              <a:ahLst/>
              <a:cxnLst/>
              <a:rect l="l" t="t" r="r" b="b"/>
              <a:pathLst>
                <a:path w="3307334" h="3307334">
                  <a:moveTo>
                    <a:pt x="0" y="0"/>
                  </a:moveTo>
                  <a:lnTo>
                    <a:pt x="3307334" y="0"/>
                  </a:lnTo>
                  <a:lnTo>
                    <a:pt x="3307334" y="3307334"/>
                  </a:lnTo>
                  <a:lnTo>
                    <a:pt x="0" y="3307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  <p:pic>
        <p:nvPicPr>
          <p:cNvPr id="34" name="Picture 3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rcRect l="7891" r="7891"/>
          <a:stretch>
            <a:fillRect/>
          </a:stretch>
        </p:blipFill>
        <p:spPr>
          <a:xfrm>
            <a:off x="3338512" y="5708647"/>
            <a:ext cx="1998659" cy="24376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35106" y="181451"/>
            <a:ext cx="17772536" cy="930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Existing Systems and Their Disadvantages</a:t>
            </a:r>
            <a:endParaRPr lang="en-US" sz="5500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1. Notion / Google Docs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Mainly used for manual note-taking and document editing.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Requires users to manually organize and format study materials.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No automatic conversion of PDFs or PPTs into structured study booklets.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2. Manual PDF Tools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Used only for viewing, editing, or merging PDF files.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Do not provide intelligent content extraction or restructuring.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Time-consuming to manually organize study content.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3. Basic File Converters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Only convert files from one format to another (e.g., PDF to text).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Do not clean, structure, or summarize the content.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9090" lvl="1" indent="-169545" algn="l">
              <a:lnSpc>
                <a:spcPts val="2700"/>
              </a:lnSpc>
            </a:pPr>
          </a:p>
          <a:p>
            <a:pPr marL="339090" lvl="1" indent="-169545" algn="l">
              <a:lnSpc>
                <a:spcPts val="2700"/>
              </a:lnSpc>
              <a:buFont typeface="Arial" panose="020B0604020202020204"/>
              <a:buChar char="•"/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Output often remains unorganized and difficult to study.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1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08079" y="613589"/>
            <a:ext cx="14214419" cy="1871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How Booklet AI Overcomes These Limitations</a:t>
            </a:r>
            <a:endParaRPr lang="en-US" sz="5560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6935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708079" y="3048943"/>
            <a:ext cx="10355161" cy="104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Automatically transforms unstructured PDFs, PPTs, and text into clean, structured study booklets with intelligent note generation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08079" y="4169226"/>
            <a:ext cx="10355161" cy="224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Rule-based text extraction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Smart content structuring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Professional PDF generation 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AI-powered chatbot for notes</a:t>
            </a:r>
            <a:endParaRPr lang="en-US" sz="2185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11556997" y="6570659"/>
            <a:ext cx="6731003" cy="3716341"/>
            <a:chOff x="0" y="0"/>
            <a:chExt cx="8974671" cy="49551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74709" cy="4955159"/>
            </a:xfrm>
            <a:custGeom>
              <a:avLst/>
              <a:gdLst/>
              <a:ahLst/>
              <a:cxnLst/>
              <a:rect l="l" t="t" r="r" b="b"/>
              <a:pathLst>
                <a:path w="8974709" h="4955159">
                  <a:moveTo>
                    <a:pt x="0" y="0"/>
                  </a:moveTo>
                  <a:lnTo>
                    <a:pt x="8974709" y="0"/>
                  </a:lnTo>
                  <a:lnTo>
                    <a:pt x="8974709" y="4955159"/>
                  </a:lnTo>
                  <a:lnTo>
                    <a:pt x="0" y="4955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09" b="-908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799462" y="6587804"/>
            <a:ext cx="10578779" cy="253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Expected Outcome</a:t>
            </a:r>
            <a:endParaRPr lang="en-US" sz="45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The system will successfully convert raw educational content (PDF, PPT, or text) into a clean, structured study booklet in PDF format. It will also provide AI-generated notes through a chatbot, helping students quickly understand and revise the study material.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49393" y="123511"/>
            <a:ext cx="17946367" cy="99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Demonstration</a:t>
            </a:r>
            <a:endParaRPr lang="en-US" sz="5500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0762" y="4887592"/>
            <a:ext cx="4201001" cy="180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Step 1: Upload Study Material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User uploads a PDF, PPT, or TXT file containing raw study content into the Booklet AI system.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899322" y="1516856"/>
            <a:ext cx="4625978" cy="3248025"/>
            <a:chOff x="0" y="0"/>
            <a:chExt cx="6167971" cy="4330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68009" cy="4330700"/>
            </a:xfrm>
            <a:custGeom>
              <a:avLst/>
              <a:gdLst/>
              <a:ahLst/>
              <a:cxnLst/>
              <a:rect l="l" t="t" r="r" b="b"/>
              <a:pathLst>
                <a:path w="6168009" h="4330700">
                  <a:moveTo>
                    <a:pt x="0" y="0"/>
                  </a:moveTo>
                  <a:lnTo>
                    <a:pt x="6168009" y="0"/>
                  </a:lnTo>
                  <a:lnTo>
                    <a:pt x="6168009" y="4330700"/>
                  </a:lnTo>
                  <a:lnTo>
                    <a:pt x="0" y="433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4394" r="-1439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125653" y="4887592"/>
            <a:ext cx="4678042" cy="180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Step 2: AI Processing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The system extracts, cleans, and structures the text using rule-based processing and AI logic.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7124700" y="1516066"/>
            <a:ext cx="3417884" cy="3248816"/>
            <a:chOff x="0" y="0"/>
            <a:chExt cx="4557179" cy="43317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57141" cy="4331716"/>
            </a:xfrm>
            <a:custGeom>
              <a:avLst/>
              <a:gdLst/>
              <a:ahLst/>
              <a:cxnLst/>
              <a:rect l="l" t="t" r="r" b="b"/>
              <a:pathLst>
                <a:path w="4557141" h="4331716">
                  <a:moveTo>
                    <a:pt x="0" y="0"/>
                  </a:moveTo>
                  <a:lnTo>
                    <a:pt x="4557141" y="0"/>
                  </a:lnTo>
                  <a:lnTo>
                    <a:pt x="4557141" y="4331716"/>
                  </a:lnTo>
                  <a:lnTo>
                    <a:pt x="0" y="4331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883" b="-2888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2304871" y="4762976"/>
            <a:ext cx="4215289" cy="214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Step 3: Generate Study Booklet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 well-structured downloadable PDF booklet is automatically generated for easy reading and exam preparation.</a:t>
            </a:r>
            <a:endParaRPr lang="en-US" sz="2250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11519697" y="1447800"/>
            <a:ext cx="5786438" cy="3155947"/>
            <a:chOff x="0" y="0"/>
            <a:chExt cx="7715250" cy="4207929"/>
          </a:xfrm>
        </p:grpSpPr>
        <p:sp>
          <p:nvSpPr>
            <p:cNvPr id="15" name="Freeform 15" descr="pptimg1"/>
            <p:cNvSpPr/>
            <p:nvPr/>
          </p:nvSpPr>
          <p:spPr>
            <a:xfrm>
              <a:off x="0" y="0"/>
              <a:ext cx="7715250" cy="4207891"/>
            </a:xfrm>
            <a:custGeom>
              <a:avLst/>
              <a:gdLst/>
              <a:ahLst/>
              <a:cxnLst/>
              <a:rect l="l" t="t" r="r" b="b"/>
              <a:pathLst>
                <a:path w="7715250" h="4207891">
                  <a:moveTo>
                    <a:pt x="0" y="0"/>
                  </a:moveTo>
                  <a:lnTo>
                    <a:pt x="7715250" y="0"/>
                  </a:lnTo>
                  <a:lnTo>
                    <a:pt x="7715250" y="4207891"/>
                  </a:lnTo>
                  <a:lnTo>
                    <a:pt x="0" y="4207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48590" y="82229"/>
            <a:ext cx="10777313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Scope of Project </a:t>
            </a:r>
            <a:endParaRPr lang="en-US" sz="5000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91465" y="1130235"/>
            <a:ext cx="17523376" cy="789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22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Booklet AI can be used to automatically convert unorganized educational content into structured study booklets and generate AI-based notes to make learning easier and faster.</a:t>
            </a:r>
            <a:endParaRPr lang="en-US" sz="222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670"/>
              </a:lnSpc>
            </a:pPr>
          </a:p>
          <a:p>
            <a:pPr algn="l">
              <a:lnSpc>
                <a:spcPts val="5940"/>
              </a:lnSpc>
            </a:pPr>
            <a:r>
              <a:rPr lang="en-US" sz="49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Where the Project Can Be Used</a:t>
            </a:r>
            <a:endParaRPr lang="en-US" sz="495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670"/>
              </a:lnSpc>
            </a:pPr>
          </a:p>
          <a:p>
            <a:pPr marL="335915" lvl="1" indent="-167640" algn="l">
              <a:lnSpc>
                <a:spcPts val="2670"/>
              </a:lnSpc>
              <a:buFont typeface="Arial" panose="020B0604020202020204"/>
              <a:buChar char="•"/>
            </a:pPr>
            <a:r>
              <a:rPr lang="en-US" sz="222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Schools and colleges for study material preparation</a:t>
            </a:r>
            <a:endParaRPr lang="en-US" sz="222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5915" lvl="1" indent="-167640" algn="l">
              <a:lnSpc>
                <a:spcPts val="2670"/>
              </a:lnSpc>
            </a:pPr>
          </a:p>
          <a:p>
            <a:pPr marL="335915" lvl="1" indent="-167640" algn="l">
              <a:lnSpc>
                <a:spcPts val="2670"/>
              </a:lnSpc>
              <a:buFont typeface="Arial" panose="020B0604020202020204"/>
              <a:buChar char="•"/>
            </a:pPr>
            <a:r>
              <a:rPr lang="en-US" sz="222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Students for exam revision and self-study</a:t>
            </a:r>
            <a:endParaRPr lang="en-US" sz="222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5915" lvl="1" indent="-167640" algn="l">
              <a:lnSpc>
                <a:spcPts val="2670"/>
              </a:lnSpc>
            </a:pPr>
          </a:p>
          <a:p>
            <a:pPr marL="335915" lvl="1" indent="-167640" algn="l">
              <a:lnSpc>
                <a:spcPts val="2670"/>
              </a:lnSpc>
              <a:buFont typeface="Arial" panose="020B0604020202020204"/>
              <a:buChar char="•"/>
            </a:pPr>
            <a:r>
              <a:rPr lang="en-US" sz="222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Teachers for organizing lecture notes and presentations</a:t>
            </a:r>
            <a:endParaRPr lang="en-US" sz="222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5915" lvl="1" indent="-167640" algn="l">
              <a:lnSpc>
                <a:spcPts val="2670"/>
              </a:lnSpc>
            </a:pPr>
          </a:p>
          <a:p>
            <a:pPr marL="746125" lvl="1" indent="-373380" algn="l">
              <a:lnSpc>
                <a:spcPts val="5940"/>
              </a:lnSpc>
            </a:pPr>
            <a:r>
              <a:rPr lang="en-US" sz="49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Limitations</a:t>
            </a:r>
            <a:endParaRPr lang="en-US" sz="495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5915" lvl="1" indent="-167640" algn="l">
              <a:lnSpc>
                <a:spcPts val="2670"/>
              </a:lnSpc>
            </a:pPr>
          </a:p>
          <a:p>
            <a:pPr marL="335915" lvl="1" indent="-167640" algn="l">
              <a:lnSpc>
                <a:spcPts val="2670"/>
              </a:lnSpc>
              <a:buFont typeface="Arial" panose="020B0604020202020204"/>
              <a:buChar char="•"/>
            </a:pPr>
            <a:r>
              <a:rPr lang="en-US" sz="222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AI notes generation requires an internet connection and API access.</a:t>
            </a:r>
            <a:endParaRPr lang="en-US" sz="222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5915" lvl="1" indent="-167640" algn="l">
              <a:lnSpc>
                <a:spcPts val="2670"/>
              </a:lnSpc>
            </a:pPr>
          </a:p>
          <a:p>
            <a:pPr marL="335915" lvl="1" indent="-167640" algn="l">
              <a:lnSpc>
                <a:spcPts val="2670"/>
              </a:lnSpc>
              <a:buFont typeface="Arial" panose="020B0604020202020204"/>
              <a:buChar char="•"/>
            </a:pPr>
            <a:r>
              <a:rPr lang="en-US" sz="222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Accuracy depends on the quality of the input files (PDF/PPT/text).</a:t>
            </a:r>
            <a:endParaRPr lang="en-US" sz="222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5915" lvl="1" indent="-167640" algn="l">
              <a:lnSpc>
                <a:spcPts val="2670"/>
              </a:lnSpc>
            </a:pPr>
          </a:p>
          <a:p>
            <a:pPr marL="746125" lvl="1" indent="-373380" algn="l">
              <a:lnSpc>
                <a:spcPts val="5940"/>
              </a:lnSpc>
            </a:pPr>
            <a:r>
              <a:rPr lang="en-US" sz="49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Target Users</a:t>
            </a:r>
            <a:endParaRPr lang="en-US" sz="495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335915" lvl="1" indent="-167640" algn="l">
              <a:lnSpc>
                <a:spcPts val="2670"/>
              </a:lnSpc>
            </a:pPr>
          </a:p>
          <a:p>
            <a:pPr marL="335915" lvl="1" indent="-167640" algn="l">
              <a:lnSpc>
                <a:spcPts val="2670"/>
              </a:lnSpc>
            </a:pPr>
            <a:r>
              <a:rPr lang="en-US" sz="2225">
                <a:solidFill>
                  <a:srgbClr val="E7E6E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Students, teachers, and anyone who wants to convert raw study materials into organized notes and booklets.</a:t>
            </a:r>
            <a:endParaRPr lang="en-US" sz="2225">
              <a:solidFill>
                <a:srgbClr val="E7E6E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674178" y="727024"/>
            <a:ext cx="5830491" cy="83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5"/>
              </a:lnSpc>
            </a:pPr>
            <a:r>
              <a:rPr lang="en-US" sz="4560">
                <a:solidFill>
                  <a:srgbClr val="FFC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Future Scope</a:t>
            </a:r>
            <a:endParaRPr lang="en-US" sz="4560">
              <a:solidFill>
                <a:srgbClr val="FFC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9" name="Group 9"/>
          <p:cNvGrpSpPr/>
          <p:nvPr>
            <p:custDataLst>
              <p:tags r:id="rId2"/>
            </p:custDataLst>
          </p:nvPr>
        </p:nvGrpSpPr>
        <p:grpSpPr>
          <a:xfrm rot="0">
            <a:off x="7907388" y="2198046"/>
            <a:ext cx="233210" cy="1049388"/>
            <a:chOff x="0" y="0"/>
            <a:chExt cx="310947" cy="1399184"/>
          </a:xfrm>
        </p:grpSpPr>
        <p:sp>
          <p:nvSpPr>
            <p:cNvPr id="10" name="Freeform 10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10896" cy="1399159"/>
            </a:xfrm>
            <a:custGeom>
              <a:avLst/>
              <a:gdLst/>
              <a:ahLst/>
              <a:cxnLst/>
              <a:rect l="l" t="t" r="r" b="b"/>
              <a:pathLst>
                <a:path w="310896" h="1399159">
                  <a:moveTo>
                    <a:pt x="0" y="46609"/>
                  </a:moveTo>
                  <a:cubicBezTo>
                    <a:pt x="0" y="20828"/>
                    <a:pt x="20828" y="0"/>
                    <a:pt x="46609" y="0"/>
                  </a:cubicBezTo>
                  <a:lnTo>
                    <a:pt x="264287" y="0"/>
                  </a:lnTo>
                  <a:cubicBezTo>
                    <a:pt x="290068" y="0"/>
                    <a:pt x="310896" y="20828"/>
                    <a:pt x="310896" y="46609"/>
                  </a:cubicBezTo>
                  <a:lnTo>
                    <a:pt x="310896" y="1352550"/>
                  </a:lnTo>
                  <a:cubicBezTo>
                    <a:pt x="310896" y="1378331"/>
                    <a:pt x="290068" y="1399159"/>
                    <a:pt x="264287" y="1399159"/>
                  </a:cubicBezTo>
                  <a:lnTo>
                    <a:pt x="46609" y="1399159"/>
                  </a:lnTo>
                  <a:cubicBezTo>
                    <a:pt x="20828" y="1399159"/>
                    <a:pt x="0" y="1378331"/>
                    <a:pt x="0" y="1352550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grpSp>
        <p:nvGrpSpPr>
          <p:cNvPr id="11" name="Group 11"/>
          <p:cNvGrpSpPr/>
          <p:nvPr>
            <p:custDataLst>
              <p:tags r:id="rId4"/>
            </p:custDataLst>
          </p:nvPr>
        </p:nvGrpSpPr>
        <p:grpSpPr>
          <a:xfrm rot="0">
            <a:off x="7674178" y="2045046"/>
            <a:ext cx="699640" cy="699640"/>
            <a:chOff x="0" y="0"/>
            <a:chExt cx="932853" cy="932853"/>
          </a:xfrm>
        </p:grpSpPr>
        <p:sp>
          <p:nvSpPr>
            <p:cNvPr id="12" name="Freeform 12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32815" cy="932815"/>
            </a:xfrm>
            <a:custGeom>
              <a:avLst/>
              <a:gdLst/>
              <a:ahLst/>
              <a:cxnLst/>
              <a:rect l="l" t="t" r="r" b="b"/>
              <a:pathLst>
                <a:path w="932815" h="932815">
                  <a:moveTo>
                    <a:pt x="0" y="466471"/>
                  </a:moveTo>
                  <a:cubicBezTo>
                    <a:pt x="0" y="208788"/>
                    <a:pt x="208788" y="0"/>
                    <a:pt x="466471" y="0"/>
                  </a:cubicBezTo>
                  <a:cubicBezTo>
                    <a:pt x="724154" y="0"/>
                    <a:pt x="932815" y="208788"/>
                    <a:pt x="932815" y="466471"/>
                  </a:cubicBezTo>
                  <a:cubicBezTo>
                    <a:pt x="932815" y="724154"/>
                    <a:pt x="724027" y="932815"/>
                    <a:pt x="466471" y="932815"/>
                  </a:cubicBezTo>
                  <a:cubicBezTo>
                    <a:pt x="208915" y="932815"/>
                    <a:pt x="0" y="724027"/>
                    <a:pt x="0" y="466471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4" name="TextBox 14"/>
          <p:cNvSpPr txBox="1"/>
          <p:nvPr>
            <p:custDataLst>
              <p:tags r:id="rId6"/>
            </p:custDataLst>
          </p:nvPr>
        </p:nvSpPr>
        <p:spPr>
          <a:xfrm>
            <a:off x="8565509" y="2014833"/>
            <a:ext cx="2915241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RAG implemented ChatBot</a:t>
            </a:r>
            <a:endParaRPr lang="en-US" sz="22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8257137" y="3789016"/>
            <a:ext cx="233210" cy="1049388"/>
            <a:chOff x="0" y="0"/>
            <a:chExt cx="310947" cy="139918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10896" cy="1399159"/>
            </a:xfrm>
            <a:custGeom>
              <a:avLst/>
              <a:gdLst/>
              <a:ahLst/>
              <a:cxnLst/>
              <a:rect l="l" t="t" r="r" b="b"/>
              <a:pathLst>
                <a:path w="310896" h="1399159">
                  <a:moveTo>
                    <a:pt x="0" y="46609"/>
                  </a:moveTo>
                  <a:cubicBezTo>
                    <a:pt x="0" y="20828"/>
                    <a:pt x="20828" y="0"/>
                    <a:pt x="46609" y="0"/>
                  </a:cubicBezTo>
                  <a:lnTo>
                    <a:pt x="264287" y="0"/>
                  </a:lnTo>
                  <a:cubicBezTo>
                    <a:pt x="290068" y="0"/>
                    <a:pt x="310896" y="20828"/>
                    <a:pt x="310896" y="46609"/>
                  </a:cubicBezTo>
                  <a:lnTo>
                    <a:pt x="310896" y="1352550"/>
                  </a:lnTo>
                  <a:cubicBezTo>
                    <a:pt x="310896" y="1378331"/>
                    <a:pt x="290068" y="1399159"/>
                    <a:pt x="264287" y="1399159"/>
                  </a:cubicBezTo>
                  <a:lnTo>
                    <a:pt x="46609" y="1399159"/>
                  </a:lnTo>
                  <a:cubicBezTo>
                    <a:pt x="20828" y="1399159"/>
                    <a:pt x="0" y="1378331"/>
                    <a:pt x="0" y="1352550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grpSp>
        <p:nvGrpSpPr>
          <p:cNvPr id="18" name="Group 18"/>
          <p:cNvGrpSpPr/>
          <p:nvPr>
            <p:custDataLst>
              <p:tags r:id="rId9"/>
            </p:custDataLst>
          </p:nvPr>
        </p:nvGrpSpPr>
        <p:grpSpPr>
          <a:xfrm rot="0">
            <a:off x="8023917" y="3636016"/>
            <a:ext cx="699640" cy="699640"/>
            <a:chOff x="0" y="0"/>
            <a:chExt cx="932853" cy="932853"/>
          </a:xfrm>
        </p:grpSpPr>
        <p:sp>
          <p:nvSpPr>
            <p:cNvPr id="19" name="Freeform 19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32815" cy="932815"/>
            </a:xfrm>
            <a:custGeom>
              <a:avLst/>
              <a:gdLst/>
              <a:ahLst/>
              <a:cxnLst/>
              <a:rect l="l" t="t" r="r" b="b"/>
              <a:pathLst>
                <a:path w="932815" h="932815">
                  <a:moveTo>
                    <a:pt x="0" y="466471"/>
                  </a:moveTo>
                  <a:cubicBezTo>
                    <a:pt x="0" y="208788"/>
                    <a:pt x="208788" y="0"/>
                    <a:pt x="466471" y="0"/>
                  </a:cubicBezTo>
                  <a:cubicBezTo>
                    <a:pt x="724154" y="0"/>
                    <a:pt x="932815" y="208788"/>
                    <a:pt x="932815" y="466471"/>
                  </a:cubicBezTo>
                  <a:cubicBezTo>
                    <a:pt x="932815" y="724154"/>
                    <a:pt x="724027" y="932815"/>
                    <a:pt x="466471" y="932815"/>
                  </a:cubicBezTo>
                  <a:cubicBezTo>
                    <a:pt x="208915" y="932815"/>
                    <a:pt x="0" y="724027"/>
                    <a:pt x="0" y="466471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20" name="Freeform 20" descr="preencoded.png"/>
          <p:cNvSpPr/>
          <p:nvPr>
            <p:custDataLst>
              <p:tags r:id="rId11"/>
            </p:custDataLst>
          </p:nvPr>
        </p:nvSpPr>
        <p:spPr>
          <a:xfrm>
            <a:off x="8198796" y="3811038"/>
            <a:ext cx="349748" cy="349748"/>
          </a:xfrm>
          <a:custGeom>
            <a:avLst/>
            <a:gdLst/>
            <a:ahLst/>
            <a:cxnLst/>
            <a:rect l="l" t="t" r="r" b="b"/>
            <a:pathLst>
              <a:path w="349748" h="349748">
                <a:moveTo>
                  <a:pt x="0" y="0"/>
                </a:moveTo>
                <a:lnTo>
                  <a:pt x="349749" y="0"/>
                </a:lnTo>
                <a:lnTo>
                  <a:pt x="349749" y="349749"/>
                </a:lnTo>
                <a:lnTo>
                  <a:pt x="0" y="3497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16215" b="-16217"/>
            </a:stretch>
          </a:blipFill>
        </p:spPr>
      </p:sp>
      <p:sp>
        <p:nvSpPr>
          <p:cNvPr id="21" name="TextBox 21"/>
          <p:cNvSpPr txBox="1"/>
          <p:nvPr>
            <p:custDataLst>
              <p:tags r:id="rId14"/>
            </p:custDataLst>
          </p:nvPr>
        </p:nvSpPr>
        <p:spPr>
          <a:xfrm>
            <a:off x="8915248" y="3605803"/>
            <a:ext cx="2915241" cy="36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0">
                <a:solidFill>
                  <a:srgbClr val="D4D4D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Improved rule based NLP</a:t>
            </a:r>
            <a:endParaRPr lang="en-US" sz="2250">
              <a:solidFill>
                <a:srgbClr val="D4D4D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pic>
        <p:nvPicPr>
          <p:cNvPr id="37" name="Picture 36" descr="robot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3800" y="1866900"/>
            <a:ext cx="947420" cy="947420"/>
          </a:xfrm>
          <a:prstGeom prst="rect">
            <a:avLst/>
          </a:prstGeom>
        </p:spPr>
      </p:pic>
      <p:pic>
        <p:nvPicPr>
          <p:cNvPr id="38" name="Picture 37" descr="pptimg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-38100"/>
            <a:ext cx="574103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85875" y="619125"/>
            <a:ext cx="15240000" cy="8572500"/>
            <a:chOff x="0" y="0"/>
            <a:chExt cx="20320000" cy="1143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320000" cy="11430000"/>
            </a:xfrm>
            <a:custGeom>
              <a:avLst/>
              <a:gdLst/>
              <a:ahLst/>
              <a:cxnLst/>
              <a:rect l="l" t="t" r="r" b="b"/>
              <a:pathLst>
                <a:path w="20320000" h="11430000">
                  <a:moveTo>
                    <a:pt x="0" y="0"/>
                  </a:moveTo>
                  <a:lnTo>
                    <a:pt x="20320000" y="0"/>
                  </a:lnTo>
                  <a:lnTo>
                    <a:pt x="20320000" y="11430000"/>
                  </a:lnTo>
                  <a:lnTo>
                    <a:pt x="0" y="1143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91716" y="3640684"/>
            <a:ext cx="9956155" cy="190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30"/>
              </a:lnSpc>
              <a:spcBef>
                <a:spcPct val="0"/>
              </a:spcBef>
            </a:pPr>
            <a:r>
              <a:rPr lang="en-US" sz="12430" b="1">
                <a:solidFill>
                  <a:srgbClr val="2F5597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ANY QUERIES ?</a:t>
            </a:r>
            <a:endParaRPr lang="en-US" sz="12430" b="1">
              <a:solidFill>
                <a:srgbClr val="2F5597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2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3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4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5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6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7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8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9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10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ags/tag11.xml><?xml version="1.0" encoding="utf-8"?>
<p:tagLst xmlns:p="http://schemas.openxmlformats.org/presentationml/2006/main">
  <p:tag name="KSO_WM_DIAGRAM_VIRTUALLY_FRAME" val="{&quot;height&quot;:472.87496062992125,&quot;left&quot;:604.2659842519686,&quot;top&quot;:158.64826771653543,&quot;width&quot;:771.46881889763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4610</Words>
  <Application>WPS Presentation</Application>
  <PresentationFormat>On-screen Show (4:3)</PresentationFormat>
  <Paragraphs>213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Times New Roman Bold</vt:lpstr>
      <vt:lpstr>Calibri (MS)</vt:lpstr>
      <vt:lpstr>Calibri (MS) Bold</vt:lpstr>
      <vt:lpstr>Calibri (MS) Bold Italics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Booklet-AI endgame1.pptx</dc:title>
  <dc:creator/>
  <cp:lastModifiedBy>ĀPĒX GAMING</cp:lastModifiedBy>
  <cp:revision>3</cp:revision>
  <dcterms:created xsi:type="dcterms:W3CDTF">2006-08-16T00:00:00Z</dcterms:created>
  <dcterms:modified xsi:type="dcterms:W3CDTF">2026-03-17T14:59:55Z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E82CEF5D385C4554BDB8B7DD11A2EBA2_12</vt:lpwstr>
  </property>
  <property fmtid="{D5CDD505-2E9C-101B-9397-08002B2CF9AE}" pid="3" name="KSOProductBuildVer">
    <vt:lpwstr>1033-12.2.0.23196</vt:lpwstr>
  </property>
</Properties>
</file>